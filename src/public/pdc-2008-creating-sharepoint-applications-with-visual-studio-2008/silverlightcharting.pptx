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  <p:sldMasterId id="2147483663" r:id="rId2"/>
  </p:sldMasterIdLst>
  <p:notesMasterIdLst>
    <p:notesMasterId r:id="rId9"/>
  </p:notesMasterIdLst>
  <p:handoutMasterIdLst>
    <p:handoutMasterId r:id="rId10"/>
  </p:handoutMasterIdLst>
  <p:sldIdLst>
    <p:sldId id="258" r:id="rId3"/>
    <p:sldId id="260" r:id="rId4"/>
    <p:sldId id="259" r:id="rId5"/>
    <p:sldId id="269" r:id="rId6"/>
    <p:sldId id="261" r:id="rId7"/>
    <p:sldId id="262" r:id="rId8"/>
  </p:sldIdLst>
  <p:sldSz cx="9906000" cy="6858000" type="A4"/>
  <p:notesSz cx="6807200" cy="9939338"/>
  <p:defaultTextStyle>
    <a:defPPr>
      <a:defRPr lang="en-GB"/>
    </a:defPPr>
    <a:lvl1pPr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bg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showPr showNarration="1" useTimings="0">
    <p:present/>
    <p:sldAll/>
    <p:penClr>
      <a:schemeClr val="tx1"/>
    </p:penClr>
  </p:showPr>
  <p:clrMru>
    <a:srgbClr val="0099FF"/>
    <a:srgbClr val="66CC33"/>
    <a:srgbClr val="FF3300"/>
    <a:srgbClr val="FFD813"/>
    <a:srgbClr val="FFD60D"/>
    <a:srgbClr val="FFFDB1"/>
    <a:srgbClr val="6C787E"/>
    <a:srgbClr val="FFD60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78313" autoAdjust="0"/>
  </p:normalViewPr>
  <p:slideViewPr>
    <p:cSldViewPr snapToObjects="1">
      <p:cViewPr varScale="1">
        <p:scale>
          <a:sx n="86" d="100"/>
          <a:sy n="86" d="100"/>
        </p:scale>
        <p:origin x="-942" y="-7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0" d="100"/>
          <a:sy n="80" d="100"/>
        </p:scale>
        <p:origin x="-1992" y="-90"/>
      </p:cViewPr>
      <p:guideLst>
        <p:guide orient="horz" pos="3130"/>
        <p:guide pos="214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608" y="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GB"/>
              <a:t>BizTalk Implmentation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5165" y="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608" y="944197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GB"/>
              <a:t>Intergen - BizTalk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5165" y="944197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Arial" charset="0"/>
              </a:defRPr>
            </a:lvl1pPr>
          </a:lstStyle>
          <a:p>
            <a:fld id="{4CFDB187-D698-408F-B281-9D86144447F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3070955" y="9467560"/>
            <a:ext cx="665293" cy="227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5092" tIns="44122" rIns="85092" bIns="44122">
            <a:spAutoFit/>
          </a:bodyPr>
          <a:lstStyle/>
          <a:p>
            <a:pPr algn="ctr" defTabSz="855609">
              <a:lnSpc>
                <a:spcPct val="90000"/>
              </a:lnSpc>
              <a:spcBef>
                <a:spcPct val="0"/>
              </a:spcBef>
            </a:pPr>
            <a:r>
              <a:rPr lang="en-GB" sz="1000" dirty="0">
                <a:solidFill>
                  <a:schemeClr val="tx1"/>
                </a:solidFill>
                <a:latin typeface="Arial" charset="0"/>
              </a:rPr>
              <a:t>Page </a:t>
            </a:r>
            <a:fld id="{85890250-A891-4723-8D1D-33EEF6218F4A}" type="slidenum">
              <a:rPr lang="en-GB" sz="1000">
                <a:solidFill>
                  <a:schemeClr val="tx1"/>
                </a:solidFill>
                <a:latin typeface="Arial" charset="0"/>
              </a:rPr>
              <a:pPr algn="ctr" defTabSz="855609">
                <a:lnSpc>
                  <a:spcPct val="90000"/>
                </a:lnSpc>
                <a:spcBef>
                  <a:spcPct val="0"/>
                </a:spcBef>
              </a:pPr>
              <a:t>‹#›</a:t>
            </a:fld>
            <a:endParaRPr lang="en-GB" sz="1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535128" y="9203684"/>
            <a:ext cx="1505747" cy="227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820" tIns="44122" rIns="89820" bIns="44122">
            <a:spAutoFit/>
          </a:bodyPr>
          <a:lstStyle/>
          <a:p>
            <a:pPr defTabSz="902075">
              <a:spcBef>
                <a:spcPct val="0"/>
              </a:spcBef>
            </a:pPr>
            <a:r>
              <a:rPr lang="en-GB" sz="900" dirty="0">
                <a:solidFill>
                  <a:schemeClr val="tx1"/>
                </a:solidFill>
                <a:latin typeface="Arial" charset="0"/>
              </a:rPr>
              <a:t>Project: Date: </a:t>
            </a:r>
            <a:fld id="{CB818DC3-0280-458F-9C1A-E8295D819808}" type="datetime1">
              <a:rPr lang="en-GB" sz="900">
                <a:solidFill>
                  <a:schemeClr val="tx1"/>
                </a:solidFill>
                <a:latin typeface="Arial" charset="0"/>
              </a:rPr>
              <a:pPr defTabSz="902075">
                <a:spcBef>
                  <a:spcPct val="0"/>
                </a:spcBef>
              </a:pPr>
              <a:t>05/11/2008</a:t>
            </a:fld>
            <a:endParaRPr lang="en-GB" sz="9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4334047" y="9203683"/>
            <a:ext cx="993118" cy="243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9820" tIns="44122" rIns="89820" bIns="44122">
            <a:spAutoFit/>
          </a:bodyPr>
          <a:lstStyle/>
          <a:p>
            <a:pPr defTabSz="902075">
              <a:spcBef>
                <a:spcPct val="0"/>
              </a:spcBef>
            </a:pPr>
            <a:r>
              <a:rPr lang="en-GB" sz="1000" dirty="0">
                <a:solidFill>
                  <a:schemeClr val="tx1"/>
                </a:solidFill>
                <a:latin typeface="Arial" charset="0"/>
              </a:rPr>
              <a:t>Module#: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608" y="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GB"/>
              <a:t>BizTalk Implmentation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165" y="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t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608" y="9441971"/>
            <a:ext cx="2952037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GB"/>
              <a:t>Intergen - BizTalk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165" y="9441971"/>
            <a:ext cx="2952036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09" tIns="0" rIns="18909" bIns="0" numCol="1" anchor="b" anchorCtr="0" compatLnSpc="1">
            <a:prstTxWarp prst="textNoShape">
              <a:avLst/>
            </a:prstTxWarp>
          </a:bodyPr>
          <a:lstStyle>
            <a:lvl1pPr algn="r" defTabSz="902075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F84E9CC7-4862-4B3F-85B6-9D88FDC4A3F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3019531" y="9467559"/>
            <a:ext cx="768140" cy="255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5092" tIns="44122" rIns="85092" bIns="44122">
            <a:spAutoFit/>
          </a:bodyPr>
          <a:lstStyle/>
          <a:p>
            <a:pPr algn="ctr" defTabSz="855609">
              <a:lnSpc>
                <a:spcPct val="90000"/>
              </a:lnSpc>
              <a:spcBef>
                <a:spcPct val="0"/>
              </a:spcBef>
            </a:pPr>
            <a:r>
              <a:rPr lang="en-GB" sz="1200" dirty="0">
                <a:solidFill>
                  <a:schemeClr val="tx1"/>
                </a:solidFill>
                <a:latin typeface="Arial" charset="0"/>
              </a:rPr>
              <a:t>Page </a:t>
            </a:r>
            <a:fld id="{60C35593-67C7-4853-805A-174AE0ABBB46}" type="slidenum">
              <a:rPr lang="en-GB" sz="1200">
                <a:solidFill>
                  <a:schemeClr val="tx1"/>
                </a:solidFill>
                <a:latin typeface="Arial" charset="0"/>
              </a:rPr>
              <a:pPr algn="ctr" defTabSz="855609">
                <a:lnSpc>
                  <a:spcPct val="90000"/>
                </a:lnSpc>
                <a:spcBef>
                  <a:spcPct val="0"/>
                </a:spcBef>
              </a:pPr>
              <a:t>‹#›</a:t>
            </a:fld>
            <a:endParaRPr lang="en-GB" sz="12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0725" y="752475"/>
            <a:ext cx="5365750" cy="3714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6" name="Rectangle 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735" y="4720985"/>
            <a:ext cx="4996124" cy="4473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820" tIns="44122" rIns="89820" bIns="44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Body Text</a:t>
            </a:r>
          </a:p>
          <a:p>
            <a:pPr lvl="0"/>
            <a:r>
              <a:rPr lang="en-GB" smtClean="0"/>
              <a:t>Second Level</a:t>
            </a:r>
          </a:p>
          <a:p>
            <a:pPr lvl="0"/>
            <a:r>
              <a:rPr lang="en-GB" smtClean="0"/>
              <a:t>Third Level</a:t>
            </a:r>
          </a:p>
          <a:p>
            <a:pPr lvl="0"/>
            <a:r>
              <a:rPr lang="en-GB" smtClean="0"/>
              <a:t>Fourth Level</a:t>
            </a:r>
          </a:p>
          <a:p>
            <a:pPr lvl="0"/>
            <a:r>
              <a:rPr lang="en-GB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1225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66838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2450" algn="l" defTabSz="908050" rtl="0" fontAlgn="base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NZ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4E9CC7-4862-4B3F-85B6-9D88FDC4A3FC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95" name="Rectangle 19"/>
          <p:cNvSpPr>
            <a:spLocks noChangeArrowheads="1"/>
          </p:cNvSpPr>
          <p:nvPr userDrawn="1"/>
        </p:nvSpPr>
        <p:spPr bwMode="gray">
          <a:xfrm>
            <a:off x="0" y="0"/>
            <a:ext cx="9906000" cy="3716338"/>
          </a:xfrm>
          <a:prstGeom prst="rect">
            <a:avLst/>
          </a:prstGeom>
          <a:solidFill>
            <a:srgbClr val="FFD60A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27796" name="Rectangle 20"/>
          <p:cNvSpPr>
            <a:spLocks noChangeArrowheads="1"/>
          </p:cNvSpPr>
          <p:nvPr userDrawn="1"/>
        </p:nvSpPr>
        <p:spPr bwMode="gray">
          <a:xfrm>
            <a:off x="-38100" y="5873750"/>
            <a:ext cx="1035050" cy="984250"/>
          </a:xfrm>
          <a:prstGeom prst="rect">
            <a:avLst/>
          </a:prstGeom>
          <a:solidFill>
            <a:schemeClr val="tx1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227797" name="Oval 21"/>
          <p:cNvSpPr>
            <a:spLocks noChangeArrowheads="1"/>
          </p:cNvSpPr>
          <p:nvPr userDrawn="1"/>
        </p:nvSpPr>
        <p:spPr bwMode="gray">
          <a:xfrm>
            <a:off x="-6350" y="5010150"/>
            <a:ext cx="1847850" cy="1847850"/>
          </a:xfrm>
          <a:prstGeom prst="ellipse">
            <a:avLst/>
          </a:prstGeom>
          <a:solidFill>
            <a:schemeClr val="bg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pic>
        <p:nvPicPr>
          <p:cNvPr id="1227798" name="Picture 2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0"/>
            <a:ext cx="20955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pic>
        <p:nvPicPr>
          <p:cNvPr id="1227800" name="Picture 24" descr="Cert_GoldPrt_gold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832725" y="5435600"/>
            <a:ext cx="1730375" cy="777875"/>
          </a:xfrm>
          <a:prstGeom prst="rect">
            <a:avLst/>
          </a:prstGeom>
          <a:noFill/>
        </p:spPr>
      </p:pic>
      <p:pic>
        <p:nvPicPr>
          <p:cNvPr id="1227801" name="Picture 25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6119813" y="2781300"/>
            <a:ext cx="3443287" cy="620713"/>
          </a:xfrm>
          <a:prstGeom prst="rect">
            <a:avLst/>
          </a:prstGeom>
          <a:noFill/>
        </p:spPr>
      </p:pic>
      <p:sp>
        <p:nvSpPr>
          <p:cNvPr id="1227802" name="Rectangle 26"/>
          <p:cNvSpPr>
            <a:spLocks noGrp="1" noChangeArrowheads="1"/>
          </p:cNvSpPr>
          <p:nvPr>
            <p:ph type="ctrTitle" sz="quarter"/>
          </p:nvPr>
        </p:nvSpPr>
        <p:spPr>
          <a:xfrm>
            <a:off x="415925" y="4191000"/>
            <a:ext cx="8420100" cy="81915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227803" name="Rectangle 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04850" y="5229225"/>
            <a:ext cx="6192838" cy="644525"/>
          </a:xfr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27CF56-11D6-4D6F-9E24-752F1F1CA82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F267EB-D2E8-453C-86E3-1F36BC0E260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955800"/>
            <a:ext cx="4024313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2013" y="1955800"/>
            <a:ext cx="40259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309267-776A-410F-9A26-B53DECC5DFF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72D356-2257-4989-9B54-BC18901CCC6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D2855A-B866-4268-A26D-7041BB4B76A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471396-7360-43FD-A01A-03410CF0145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37C3CA-1185-4951-9BEF-7BB4F6BE544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C5B7CA-2FB0-44EB-B2D7-32D179459EE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2D64B02-43DB-49D2-87C4-4241EC4D374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765175"/>
            <a:ext cx="2228850" cy="52562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765175"/>
            <a:ext cx="6534150" cy="52562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ED2E942-B39B-4E73-AAF2-5EBE9B3D66D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D6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066" name="Rectangle 2"/>
          <p:cNvSpPr>
            <a:spLocks noChangeArrowheads="1"/>
          </p:cNvSpPr>
          <p:nvPr/>
        </p:nvSpPr>
        <p:spPr bwMode="white">
          <a:xfrm>
            <a:off x="0" y="6065838"/>
            <a:ext cx="920750" cy="792162"/>
          </a:xfrm>
          <a:prstGeom prst="rect">
            <a:avLst/>
          </a:prstGeom>
          <a:solidFill>
            <a:schemeClr val="tx1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1240067" name="Picture 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gray">
          <a:xfrm>
            <a:off x="0" y="0"/>
            <a:ext cx="20955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pic>
        <p:nvPicPr>
          <p:cNvPr id="1240068" name="Picture 4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>
            <a:off x="1562100" y="2805113"/>
            <a:ext cx="6738938" cy="1219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sp>
        <p:nvSpPr>
          <p:cNvPr id="1240069" name="Oval 5"/>
          <p:cNvSpPr>
            <a:spLocks noChangeArrowheads="1"/>
          </p:cNvSpPr>
          <p:nvPr/>
        </p:nvSpPr>
        <p:spPr bwMode="gray">
          <a:xfrm>
            <a:off x="-6350" y="5010150"/>
            <a:ext cx="1847850" cy="1847850"/>
          </a:xfrm>
          <a:prstGeom prst="ellipse">
            <a:avLst/>
          </a:prstGeom>
          <a:solidFill>
            <a:srgbClr val="FFD60D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765175"/>
            <a:ext cx="89154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10793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55038" y="6245225"/>
            <a:ext cx="9191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800">
                <a:latin typeface="Acumen" pitchFamily="2" charset="0"/>
              </a:defRPr>
            </a:lvl1pPr>
          </a:lstStyle>
          <a:p>
            <a:r>
              <a:rPr lang="en-US"/>
              <a:t>15 - 08 - 2001</a:t>
            </a:r>
            <a:endParaRPr lang="en-AU"/>
          </a:p>
        </p:txBody>
      </p:sp>
      <p:sp>
        <p:nvSpPr>
          <p:cNvPr id="1079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55038" y="6553200"/>
            <a:ext cx="855662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800">
                <a:latin typeface="Acumen" pitchFamily="2" charset="0"/>
              </a:defRPr>
            </a:lvl1pPr>
          </a:lstStyle>
          <a:p>
            <a:fld id="{21524689-7DA4-433E-A41D-831F7B7FED94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1079303" name="Rectangle 7"/>
          <p:cNvSpPr>
            <a:spLocks noChangeArrowheads="1"/>
          </p:cNvSpPr>
          <p:nvPr/>
        </p:nvSpPr>
        <p:spPr bwMode="gray">
          <a:xfrm>
            <a:off x="0" y="0"/>
            <a:ext cx="9906000" cy="641350"/>
          </a:xfrm>
          <a:prstGeom prst="rect">
            <a:avLst/>
          </a:prstGeom>
          <a:solidFill>
            <a:srgbClr val="FFD60A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endParaRPr lang="en-US">
              <a:latin typeface="Acumen" pitchFamily="2" charset="0"/>
            </a:endParaRPr>
          </a:p>
        </p:txBody>
      </p:sp>
      <p:sp>
        <p:nvSpPr>
          <p:cNvPr id="1079305" name="Oval 9"/>
          <p:cNvSpPr>
            <a:spLocks noChangeArrowheads="1"/>
          </p:cNvSpPr>
          <p:nvPr/>
        </p:nvSpPr>
        <p:spPr bwMode="gray">
          <a:xfrm>
            <a:off x="2298700" y="4654550"/>
            <a:ext cx="1898650" cy="1898650"/>
          </a:xfrm>
          <a:prstGeom prst="ellipse">
            <a:avLst/>
          </a:prstGeom>
          <a:noFill/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pic>
        <p:nvPicPr>
          <p:cNvPr id="1079307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>
            <a:off x="0" y="0"/>
            <a:ext cx="209550" cy="6413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graphicFrame>
        <p:nvGraphicFramePr>
          <p:cNvPr id="1079311" name="Object 15"/>
          <p:cNvGraphicFramePr>
            <a:graphicFrameLocks noChangeAspect="1"/>
          </p:cNvGraphicFramePr>
          <p:nvPr/>
        </p:nvGraphicFramePr>
        <p:xfrm>
          <a:off x="7832725" y="228600"/>
          <a:ext cx="1641475" cy="295275"/>
        </p:xfrm>
        <a:graphic>
          <a:graphicData uri="http://schemas.openxmlformats.org/presentationml/2006/ole">
            <p:oleObj spid="_x0000_s1079311" name="Image" r:id="rId15" imgW="3733333" imgH="672779" progId="">
              <p:embed/>
            </p:oleObj>
          </a:graphicData>
        </a:graphic>
      </p:graphicFrame>
      <p:sp>
        <p:nvSpPr>
          <p:cNvPr id="1079312" name="Text Box 16"/>
          <p:cNvSpPr txBox="1">
            <a:spLocks noChangeArrowheads="1"/>
          </p:cNvSpPr>
          <p:nvPr/>
        </p:nvSpPr>
        <p:spPr bwMode="gray">
          <a:xfrm>
            <a:off x="344488" y="187325"/>
            <a:ext cx="7129462" cy="3365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600" dirty="0" err="1" smtClean="0">
                <a:solidFill>
                  <a:schemeClr val="tx1"/>
                </a:solidFill>
              </a:rPr>
              <a:t>Silverlight</a:t>
            </a:r>
            <a:r>
              <a:rPr lang="en-GB" sz="1600" dirty="0" smtClean="0">
                <a:solidFill>
                  <a:schemeClr val="tx1"/>
                </a:solidFill>
              </a:rPr>
              <a:t> 2.0 Charting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79314" name="Rectangle 18"/>
          <p:cNvSpPr>
            <a:spLocks noChangeArrowheads="1"/>
          </p:cNvSpPr>
          <p:nvPr/>
        </p:nvSpPr>
        <p:spPr bwMode="gray">
          <a:xfrm>
            <a:off x="-38100" y="5873750"/>
            <a:ext cx="1035050" cy="98425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079313" name="Oval 17"/>
          <p:cNvSpPr>
            <a:spLocks noChangeArrowheads="1"/>
          </p:cNvSpPr>
          <p:nvPr/>
        </p:nvSpPr>
        <p:spPr bwMode="gray">
          <a:xfrm>
            <a:off x="-15875" y="5013325"/>
            <a:ext cx="1847850" cy="1847850"/>
          </a:xfrm>
          <a:prstGeom prst="ellipse">
            <a:avLst/>
          </a:prstGeom>
          <a:solidFill>
            <a:schemeClr val="tx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955800"/>
            <a:ext cx="8202613" cy="406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First Level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1"/>
            <a:endParaRPr lang="en-AU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 spd="med">
    <p:fade/>
  </p:transition>
  <p:txStyles>
    <p:titleStyle>
      <a:lvl1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>
          <a:solidFill>
            <a:schemeClr val="bg1"/>
          </a:solidFill>
          <a:latin typeface="Arial Narrow" pitchFamily="34" charset="0"/>
        </a:defRPr>
      </a:lvl9pPr>
    </p:titleStyle>
    <p:bodyStyle>
      <a:lvl1pPr marL="530225" indent="-530225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1169988" indent="-460375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400">
          <a:solidFill>
            <a:schemeClr val="bg1"/>
          </a:solidFill>
          <a:latin typeface="+mn-lt"/>
        </a:defRPr>
      </a:lvl2pPr>
      <a:lvl3pPr marL="1700213" indent="-350838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000">
          <a:solidFill>
            <a:schemeClr val="bg1"/>
          </a:solidFill>
          <a:latin typeface="+mn-lt"/>
        </a:defRPr>
      </a:lvl3pPr>
      <a:lvl4pPr marL="2341563" indent="-461963" algn="l" defTabSz="1060450" rtl="0" fontAlgn="base">
        <a:spcBef>
          <a:spcPct val="20000"/>
        </a:spcBef>
        <a:spcAft>
          <a:spcPct val="0"/>
        </a:spcAft>
        <a:buClr>
          <a:srgbClr val="FFD60D"/>
        </a:buClr>
        <a:buBlip>
          <a:blip r:embed="rId16"/>
        </a:buBlip>
        <a:defRPr sz="2000">
          <a:solidFill>
            <a:schemeClr val="bg1"/>
          </a:solidFill>
          <a:latin typeface="+mn-lt"/>
        </a:defRPr>
      </a:lvl4pPr>
      <a:lvl5pPr marL="30194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5pPr>
      <a:lvl6pPr marL="34766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6pPr>
      <a:lvl7pPr marL="39338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7pPr>
      <a:lvl8pPr marL="43910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8pPr>
      <a:lvl9pPr marL="4848225" indent="-228600" algn="l" defTabSz="106045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cumen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ames.newtonking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About Me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James Newton-King</a:t>
            </a:r>
            <a:endParaRPr lang="en-NZ" dirty="0" smtClean="0"/>
          </a:p>
          <a:p>
            <a:r>
              <a:rPr lang="en-NZ" dirty="0" smtClean="0"/>
              <a:t>Developer at </a:t>
            </a:r>
            <a:r>
              <a:rPr lang="en-NZ" dirty="0" err="1" smtClean="0"/>
              <a:t>Intergen</a:t>
            </a:r>
            <a:endParaRPr lang="en-NZ" dirty="0" smtClean="0"/>
          </a:p>
          <a:p>
            <a:r>
              <a:rPr lang="en-NZ" dirty="0" smtClean="0"/>
              <a:t>Blog: </a:t>
            </a:r>
            <a:r>
              <a:rPr lang="en-NZ" dirty="0" smtClean="0">
                <a:hlinkClick r:id="rId3"/>
              </a:rPr>
              <a:t>http://james.newtonking.com</a:t>
            </a:r>
            <a:endParaRPr lang="en-NZ" dirty="0" smtClean="0"/>
          </a:p>
          <a:p>
            <a:endParaRPr lang="en-NZ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Silverlight</a:t>
            </a:r>
            <a:r>
              <a:rPr lang="en-US" dirty="0" smtClean="0"/>
              <a:t> 2.0</a:t>
            </a:r>
            <a:endParaRPr lang="en-US" dirty="0"/>
          </a:p>
        </p:txBody>
      </p:sp>
      <p:sp>
        <p:nvSpPr>
          <p:cNvPr id="1244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NET in the browser!</a:t>
            </a:r>
          </a:p>
          <a:p>
            <a:pPr lvl="1"/>
            <a:r>
              <a:rPr lang="en-NZ" dirty="0" err="1" smtClean="0"/>
              <a:t>System.Collections</a:t>
            </a:r>
            <a:r>
              <a:rPr lang="en-NZ" dirty="0" smtClean="0"/>
              <a:t>, System.IO, </a:t>
            </a:r>
            <a:r>
              <a:rPr lang="en-NZ" dirty="0" err="1" smtClean="0"/>
              <a:t>System.Text</a:t>
            </a:r>
            <a:endParaRPr lang="en-NZ" dirty="0" smtClean="0"/>
          </a:p>
          <a:p>
            <a:pPr lvl="1"/>
            <a:r>
              <a:rPr lang="en-NZ" dirty="0" smtClean="0"/>
              <a:t>Networking, web services, XML serialization</a:t>
            </a:r>
          </a:p>
          <a:p>
            <a:pPr lvl="1"/>
            <a:r>
              <a:rPr lang="en-NZ" dirty="0" smtClean="0"/>
              <a:t>WPF, video &amp; audio, controls</a:t>
            </a:r>
          </a:p>
          <a:p>
            <a:pPr lvl="1"/>
            <a:r>
              <a:rPr lang="en-NZ" dirty="0" smtClean="0"/>
              <a:t>DOM, scripting</a:t>
            </a:r>
          </a:p>
          <a:p>
            <a:pPr lvl="1"/>
            <a:r>
              <a:rPr lang="en-NZ" dirty="0" smtClean="0"/>
              <a:t>C# 3.0, VB.NET, Python, Ruby, </a:t>
            </a:r>
            <a:r>
              <a:rPr lang="en-NZ" dirty="0" smtClean="0"/>
              <a:t>JavaScript</a:t>
            </a:r>
          </a:p>
          <a:p>
            <a:pPr lvl="1"/>
            <a:endParaRPr lang="en-NZ" dirty="0" smtClean="0"/>
          </a:p>
          <a:p>
            <a:r>
              <a:rPr lang="en-NZ" b="1" dirty="0" smtClean="0"/>
              <a:t>Out now!</a:t>
            </a:r>
            <a:endParaRPr lang="en-NZ" b="1" dirty="0" smtClean="0"/>
          </a:p>
        </p:txBody>
      </p:sp>
      <p:pic>
        <p:nvPicPr>
          <p:cNvPr id="4" name="Picture 3" descr="Sl_v_rgb_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16" y="1000108"/>
            <a:ext cx="2021063" cy="225612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4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4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44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44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44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err="1" smtClean="0"/>
              <a:t>Silverlight</a:t>
            </a:r>
            <a:r>
              <a:rPr lang="en-NZ" dirty="0" smtClean="0"/>
              <a:t> Control Toolkit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Announced and released at PDC</a:t>
            </a:r>
          </a:p>
          <a:p>
            <a:r>
              <a:rPr lang="en-NZ" dirty="0" smtClean="0"/>
              <a:t>Open source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5348" y="2946090"/>
          <a:ext cx="660400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02000"/>
                <a:gridCol w="3302000"/>
              </a:tblGrid>
              <a:tr h="370840">
                <a:tc>
                  <a:txBody>
                    <a:bodyPr/>
                    <a:lstStyle/>
                    <a:p>
                      <a:r>
                        <a:rPr lang="en-NZ" sz="1600" dirty="0" err="1" smtClean="0">
                          <a:solidFill>
                            <a:schemeClr val="bg1"/>
                          </a:solidFill>
                        </a:rPr>
                        <a:t>TreeView</a:t>
                      </a:r>
                      <a:endParaRPr lang="en-NZ" sz="160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dirty="0" err="1" smtClean="0">
                          <a:solidFill>
                            <a:schemeClr val="bg1"/>
                          </a:solidFill>
                        </a:rPr>
                        <a:t>DockPanel</a:t>
                      </a:r>
                      <a:endParaRPr lang="en-NZ" sz="160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dirty="0" err="1" smtClean="0">
                          <a:solidFill>
                            <a:schemeClr val="bg1"/>
                          </a:solidFill>
                        </a:rPr>
                        <a:t>WrapPanel</a:t>
                      </a:r>
                      <a:endParaRPr lang="en-NZ" sz="160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dirty="0" smtClean="0">
                          <a:solidFill>
                            <a:schemeClr val="bg1"/>
                          </a:solidFill>
                        </a:rPr>
                        <a:t>Label</a:t>
                      </a:r>
                    </a:p>
                    <a:p>
                      <a:r>
                        <a:rPr lang="en-NZ" sz="1600" dirty="0" err="1" smtClean="0">
                          <a:solidFill>
                            <a:schemeClr val="bg1"/>
                          </a:solidFill>
                        </a:rPr>
                        <a:t>HeaderedContentControl</a:t>
                      </a:r>
                      <a:endParaRPr lang="en-NZ" sz="160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dirty="0" err="1" smtClean="0">
                          <a:solidFill>
                            <a:schemeClr val="bg1"/>
                          </a:solidFill>
                        </a:rPr>
                        <a:t>HeaderedItemsControl</a:t>
                      </a:r>
                      <a:endParaRPr lang="en-NZ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Z" sz="1600" i="0" dirty="0" err="1" smtClean="0">
                          <a:solidFill>
                            <a:schemeClr val="bg1"/>
                          </a:solidFill>
                        </a:rPr>
                        <a:t>AutoCompleteBox</a:t>
                      </a:r>
                      <a:endParaRPr lang="en-NZ" sz="1600" i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i="0" dirty="0" err="1" smtClean="0">
                          <a:solidFill>
                            <a:schemeClr val="bg1"/>
                          </a:solidFill>
                        </a:rPr>
                        <a:t>NumericUpDown</a:t>
                      </a:r>
                      <a:endParaRPr lang="en-NZ" sz="1600" i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i="0" dirty="0" err="1" smtClean="0">
                          <a:solidFill>
                            <a:schemeClr val="bg1"/>
                          </a:solidFill>
                        </a:rPr>
                        <a:t>Viewbox</a:t>
                      </a:r>
                      <a:endParaRPr lang="en-NZ" sz="1600" i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i="0" dirty="0" smtClean="0">
                          <a:solidFill>
                            <a:schemeClr val="bg1"/>
                          </a:solidFill>
                        </a:rPr>
                        <a:t>Expander</a:t>
                      </a:r>
                    </a:p>
                    <a:p>
                      <a:r>
                        <a:rPr lang="en-NZ" sz="1600" i="0" dirty="0" err="1" smtClean="0">
                          <a:solidFill>
                            <a:schemeClr val="bg1"/>
                          </a:solidFill>
                        </a:rPr>
                        <a:t>ImplicitStyleManager</a:t>
                      </a:r>
                      <a:endParaRPr lang="en-NZ" sz="1600" i="0" dirty="0" smtClean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NZ" sz="1600" i="0" dirty="0" smtClean="0">
                          <a:solidFill>
                            <a:schemeClr val="bg1"/>
                          </a:solidFill>
                        </a:rPr>
                        <a:t>Charting</a:t>
                      </a:r>
                      <a:endParaRPr lang="en-NZ" sz="1600" i="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ontrolsP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48" y="4643446"/>
            <a:ext cx="6929486" cy="2026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err="1" smtClean="0"/>
              <a:t>Silverlight</a:t>
            </a:r>
            <a:r>
              <a:rPr lang="en-NZ" dirty="0" smtClean="0"/>
              <a:t> Charting</a:t>
            </a:r>
            <a:endParaRPr lang="en-NZ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Bar Graph</a:t>
            </a:r>
          </a:p>
          <a:p>
            <a:r>
              <a:rPr lang="en-NZ" dirty="0" smtClean="0"/>
              <a:t>Column Graph</a:t>
            </a:r>
          </a:p>
          <a:p>
            <a:r>
              <a:rPr lang="en-NZ" dirty="0" smtClean="0"/>
              <a:t>Pie Graph</a:t>
            </a:r>
          </a:p>
          <a:p>
            <a:r>
              <a:rPr lang="en-NZ" dirty="0" smtClean="0"/>
              <a:t>Line Graph</a:t>
            </a:r>
          </a:p>
          <a:p>
            <a:r>
              <a:rPr lang="en-NZ" dirty="0" smtClean="0"/>
              <a:t>Scatter Graph</a:t>
            </a:r>
            <a:endParaRPr lang="en-NZ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 r="59559"/>
          <a:stretch>
            <a:fillRect/>
          </a:stretch>
        </p:blipFill>
        <p:spPr bwMode="auto">
          <a:xfrm>
            <a:off x="4881562" y="2082490"/>
            <a:ext cx="3143272" cy="24180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 t="8036" r="59166" b="11607"/>
          <a:stretch>
            <a:fillRect/>
          </a:stretch>
        </p:blipFill>
        <p:spPr bwMode="auto">
          <a:xfrm>
            <a:off x="4738686" y="2143116"/>
            <a:ext cx="3500462" cy="21431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/>
          <a:srcRect r="60000"/>
          <a:stretch>
            <a:fillRect/>
          </a:stretch>
        </p:blipFill>
        <p:spPr bwMode="auto">
          <a:xfrm>
            <a:off x="4738686" y="2071678"/>
            <a:ext cx="3429024" cy="2667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6"/>
          <a:srcRect r="57368" b="892"/>
          <a:stretch>
            <a:fillRect/>
          </a:stretch>
        </p:blipFill>
        <p:spPr bwMode="auto">
          <a:xfrm>
            <a:off x="4524372" y="2143116"/>
            <a:ext cx="3857652" cy="264320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7"/>
          <a:srcRect r="56579" b="3571"/>
          <a:stretch>
            <a:fillRect/>
          </a:stretch>
        </p:blipFill>
        <p:spPr bwMode="auto">
          <a:xfrm>
            <a:off x="4524372" y="2143116"/>
            <a:ext cx="3929090" cy="25717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Demo</a:t>
            </a:r>
            <a:endParaRPr lang="en-NZ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Building a column graph</a:t>
            </a:r>
            <a:endParaRPr lang="en-NZ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rgen Black (External)">
  <a:themeElements>
    <a:clrScheme name="Intergen Black (Internal 2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tergen Black (Internal 2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Intergen Black (Internal 2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gen Black (Internal 2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gen Black (Internal 2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Page Design">
  <a:themeElements>
    <a:clrScheme name="Title and Page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Page Design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GB" sz="17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Title and Page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and Page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and Page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Intergen Black (External)</Template>
  <TotalTime>2401</TotalTime>
  <Pages>8</Pages>
  <Words>99</Words>
  <Application>Microsoft PowerPoint 4.0</Application>
  <PresentationFormat>A4 Paper (210x297 mm)</PresentationFormat>
  <Paragraphs>41</Paragraphs>
  <Slides>6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Intergen Black (External)</vt:lpstr>
      <vt:lpstr>Title and Page Design</vt:lpstr>
      <vt:lpstr>Image</vt:lpstr>
      <vt:lpstr>Slide 1</vt:lpstr>
      <vt:lpstr>About Me</vt:lpstr>
      <vt:lpstr>Silverlight 2.0</vt:lpstr>
      <vt:lpstr>Silverlight Control Toolkit</vt:lpstr>
      <vt:lpstr>Silverlight Charting</vt:lpstr>
      <vt:lpstr>Demo</vt:lpstr>
    </vt:vector>
  </TitlesOfParts>
  <Company>Intergen Ltd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James Newton-King</dc:creator>
  <dc:description/>
  <cp:lastModifiedBy>James Newton-King</cp:lastModifiedBy>
  <cp:revision>156</cp:revision>
  <cp:lastPrinted>1998-08-20T17:06:03Z</cp:lastPrinted>
  <dcterms:created xsi:type="dcterms:W3CDTF">2008-02-14T20:42:55Z</dcterms:created>
  <dcterms:modified xsi:type="dcterms:W3CDTF">2008-11-05T00:52:45Z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atus">
    <vt:lpwstr/>
  </property>
  <property fmtid="{D5CDD505-2E9C-101B-9397-08002B2CF9AE}" pid="3" name="Template Icon">
    <vt:lpwstr>PowerPoint</vt:lpwstr>
  </property>
  <property fmtid="{D5CDD505-2E9C-101B-9397-08002B2CF9AE}" pid="4" name="Display in New Document List">
    <vt:lpwstr>Yes</vt:lpwstr>
  </property>
</Properties>
</file>